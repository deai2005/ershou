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62" r:id="rId3"/>
    <p:sldId id="258" r:id="rId4"/>
    <p:sldId id="259" r:id="rId5"/>
    <p:sldId id="260" r:id="rId6"/>
    <p:sldId id="271" r:id="rId7"/>
    <p:sldId id="270" r:id="rId8"/>
    <p:sldId id="269" r:id="rId9"/>
    <p:sldId id="268" r:id="rId10"/>
    <p:sldId id="267" r:id="rId11"/>
    <p:sldId id="266" r:id="rId12"/>
    <p:sldId id="265" r:id="rId13"/>
    <p:sldId id="264" r:id="rId14"/>
    <p:sldId id="263" r:id="rId15"/>
    <p:sldId id="26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5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53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22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46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9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1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90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69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45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00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817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056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36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162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638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61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708D8-E121-4F1F-99D5-98261AAA317D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361D4C7-0638-4067-B0F0-D50265508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09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87733-1FF3-46D5-A2FC-CA2F52E32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二手组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C0CBC4-C9EF-4744-A2CC-B07BDED8D3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69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D8318-5E53-4C73-8088-C94FF5B6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5A2D4-0895-4C1D-B40F-DA3D7DC2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需求分析分为用户需求分析和管理员需求分析</a:t>
            </a:r>
          </a:p>
        </p:txBody>
      </p:sp>
    </p:spTree>
    <p:extLst>
      <p:ext uri="{BB962C8B-B14F-4D97-AF65-F5344CB8AC3E}">
        <p14:creationId xmlns:p14="http://schemas.microsoft.com/office/powerpoint/2010/main" val="95098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50488-BC69-449A-85E5-28278980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用户需求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F20B71-9CA4-4DE6-80A5-45C3040614D7}"/>
              </a:ext>
            </a:extLst>
          </p:cNvPr>
          <p:cNvSpPr/>
          <p:nvPr/>
        </p:nvSpPr>
        <p:spPr>
          <a:xfrm>
            <a:off x="338667" y="1518689"/>
            <a:ext cx="9274002" cy="4597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</a:rPr>
              <a:t>）登录：用户能够根据账号访问系统。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Times New Roman" panose="02020603050405020304" pitchFamily="18" charset="0"/>
              </a:rPr>
              <a:t>）主界面：系统首页对校园二手物品，根据商品的种类进行展示，能较为直接的对所需要的物品进行查看。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Times New Roman" panose="02020603050405020304" pitchFamily="18" charset="0"/>
              </a:rPr>
              <a:t>）物品发布：用户可以发布自己的闲置物品</a:t>
            </a:r>
            <a:r>
              <a:rPr lang="zh-CN" altLang="en-US" kern="100" dirty="0">
                <a:latin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Times New Roman" panose="02020603050405020304" pitchFamily="18" charset="0"/>
              </a:rPr>
              <a:t>上传二手物品信息。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Times New Roman" panose="02020603050405020304" pitchFamily="18" charset="0"/>
              </a:rPr>
              <a:t>）消息模块：用户可以发表自己对商品的评价。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Times New Roman" panose="02020603050405020304" pitchFamily="18" charset="0"/>
              </a:rPr>
              <a:t>）物品购买模块：用户可以通过立即购买按钮，对所需要的物品进行购买</a:t>
            </a:r>
            <a:r>
              <a:rPr lang="zh-CN" altLang="en-US" kern="100" dirty="0">
                <a:latin typeface="Times New Roman" panose="02020603050405020304" pitchFamily="18" charset="0"/>
              </a:rPr>
              <a:t>。</a:t>
            </a:r>
            <a:r>
              <a:rPr lang="zh-CN" altLang="zh-CN" kern="100" dirty="0">
                <a:latin typeface="Times New Roman" panose="02020603050405020304" pitchFamily="18" charset="0"/>
              </a:rPr>
              <a:t>相关信息填写完毕后，便可以通过支付按钮进行相关支付操作。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6</a:t>
            </a:r>
            <a:r>
              <a:rPr lang="zh-CN" altLang="zh-CN" kern="100" dirty="0">
                <a:latin typeface="Times New Roman" panose="02020603050405020304" pitchFamily="18" charset="0"/>
              </a:rPr>
              <a:t>）收藏模块：用户可以把自己的喜欢的商品进行收</a:t>
            </a:r>
            <a:r>
              <a:rPr lang="zh-CN" altLang="en-US" kern="100" dirty="0">
                <a:latin typeface="Times New Roman" panose="02020603050405020304" pitchFamily="18" charset="0"/>
              </a:rPr>
              <a:t>藏</a:t>
            </a:r>
            <a:r>
              <a:rPr lang="zh-CN" altLang="zh-CN" kern="100" dirty="0">
                <a:latin typeface="Times New Roman" panose="02020603050405020304" pitchFamily="18" charset="0"/>
              </a:rPr>
              <a:t>，可以等到需要的时候</a:t>
            </a:r>
            <a:r>
              <a:rPr lang="zh-CN" altLang="en-US" kern="100" dirty="0">
                <a:latin typeface="Times New Roman" panose="02020603050405020304" pitchFamily="18" charset="0"/>
              </a:rPr>
              <a:t>方便找到</a:t>
            </a:r>
            <a:r>
              <a:rPr lang="zh-CN" altLang="zh-CN" kern="100" dirty="0">
                <a:latin typeface="Times New Roman" panose="02020603050405020304" pitchFamily="18" charset="0"/>
              </a:rPr>
              <a:t>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7</a:t>
            </a:r>
            <a:r>
              <a:rPr lang="zh-CN" altLang="zh-CN" kern="100" dirty="0">
                <a:latin typeface="Times New Roman" panose="02020603050405020304" pitchFamily="18" charset="0"/>
              </a:rPr>
              <a:t>）下架模块：用户可以对自己上传的商品进行下架处理，当自己上传的商品不想再进行销售时候，可以进行下架操作。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8</a:t>
            </a:r>
            <a:r>
              <a:rPr lang="zh-CN" altLang="zh-CN" kern="100" dirty="0">
                <a:latin typeface="Times New Roman" panose="02020603050405020304" pitchFamily="18" charset="0"/>
              </a:rPr>
              <a:t>）售出、购买模块：用户可在售出模块内，能够实时的掌握自己的商品最新的销售状态。</a:t>
            </a:r>
            <a:endParaRPr lang="en-US" altLang="zh-CN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9</a:t>
            </a:r>
            <a:r>
              <a:rPr lang="zh-CN" altLang="zh-CN" kern="100" dirty="0">
                <a:latin typeface="Times New Roman" panose="02020603050405020304" pitchFamily="18" charset="0"/>
              </a:rPr>
              <a:t>）个人资料：用户可以在个人资料模块内，对自己的名称和密码进行维护等操作啊，可以提高自己账号的安全性。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</a:rPr>
              <a:t>10</a:t>
            </a:r>
            <a:r>
              <a:rPr lang="zh-CN" altLang="zh-CN" kern="100" dirty="0">
                <a:latin typeface="Times New Roman" panose="02020603050405020304" pitchFamily="18" charset="0"/>
              </a:rPr>
              <a:t>）退出模块：用户可以在使用完系统后，进行系统退出操作。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15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8B9D5-360C-47EE-9943-366A83BE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管理员需求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65B2C-4BE8-48A8-B09D-D219E1A02248}"/>
              </a:ext>
            </a:extLst>
          </p:cNvPr>
          <p:cNvSpPr/>
          <p:nvPr/>
        </p:nvSpPr>
        <p:spPr>
          <a:xfrm>
            <a:off x="677334" y="1408140"/>
            <a:ext cx="6096000" cy="45871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）登录：管理员能够根据账号访问系统。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）用户管理：管理员可以添加、删除、修改用户信息，查看用户列表，对用户进行管理和控制。例如，管理员可以查看每个用户的个人信息、交易记录等，并可以对用户的交易行为进行审核和管理。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商品管理：管理员可以添加、删除、修改物品信息，查看物品列表，对物品进行管理和控制。例如，管理员可以查看每个物品的详细信息、交易记录等，并可以对物品的交易情况进行审核和管理。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）订单管理：管理员可以查看交易信息，对交易进行管理和控制。例如，管理员可以查看每笔交易的详细信息，包括交易物品、交易时间、交易金额等，并可以对交易进行审核和管理。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）退出模块：管理员可以在使用完系统后，进行系统退出操作，用于保证系统的安全性，避免自己不在的时候，别人登录系统。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38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84E48-AFC9-4AAF-9158-F32C7E31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540" y="2527850"/>
            <a:ext cx="10605052" cy="3008243"/>
          </a:xfrm>
        </p:spPr>
        <p:txBody>
          <a:bodyPr>
            <a:normAutofit/>
          </a:bodyPr>
          <a:lstStyle/>
          <a:p>
            <a:r>
              <a:rPr lang="zh-CN" altLang="en-US" sz="9600" dirty="0"/>
              <a:t>系统设计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5653FA-1E87-4439-B170-41E7F87A671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77334" y="6041362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42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D73E9-859F-4B19-B2CB-36665F9C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开发环境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D5B4B2-2865-4B49-8E3A-B221C1683497}"/>
              </a:ext>
            </a:extLst>
          </p:cNvPr>
          <p:cNvSpPr/>
          <p:nvPr/>
        </p:nvSpPr>
        <p:spPr>
          <a:xfrm>
            <a:off x="677334" y="2122873"/>
            <a:ext cx="6096000" cy="233012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）硬件环境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中央处理器：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r9 7845hx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内存：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16 GB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）软件环境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操作系统：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Windows 11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数据库：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MySQL  8.0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开发平台：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IDEA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ts val="22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技术框架：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B/S ,MVC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33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B8897-D5D0-44E7-805E-00DBC355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395663"/>
            <a:ext cx="9397109" cy="5229727"/>
          </a:xfrm>
        </p:spPr>
        <p:txBody>
          <a:bodyPr>
            <a:normAutofit fontScale="90000"/>
          </a:bodyPr>
          <a:lstStyle/>
          <a:p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系通过对该系统的分析之后，该系统的整体架构可以分为如下五层：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Pojo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层、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Dao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层、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Service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层、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Controller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层、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View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Pojo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层其实就是对应着数据库中的实体类，并且实体类中的属性名与数据库属性名一样，在数据库没有访问的时候，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Pojo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层中的实体类有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Spring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提供的容器进行管理。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Dao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层是数据访问层，和数据库联系比较密切。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MyBaits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提供了接口式编程方式，只需创建接口和在对应的配置文件中编写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SQL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语句，即可实现对数据库的增删改查。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Service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层是业务层，用来处理具体的业务逻辑，并且不需要考虑其具体实现，通过调用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Dao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层对象实现业务逻辑的编写。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Controller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层是控制层，该层和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View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层联系特别紧密，需要对前台用户发送的请求进行处理和页面跳转，并且需要调用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Service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层的对象。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View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层是视图层，主要用来展示前台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vue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页面，可以向后台发送请求，并且可以对后台返回的数据和结果进行响应。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统概要设计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8C9191-AF1F-48C8-9BAA-DDE72838ED10}"/>
              </a:ext>
            </a:extLst>
          </p:cNvPr>
          <p:cNvSpPr txBox="1"/>
          <p:nvPr/>
        </p:nvSpPr>
        <p:spPr>
          <a:xfrm>
            <a:off x="677333" y="561474"/>
            <a:ext cx="3621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系统概要设计</a:t>
            </a:r>
          </a:p>
        </p:txBody>
      </p:sp>
    </p:spTree>
    <p:extLst>
      <p:ext uri="{BB962C8B-B14F-4D97-AF65-F5344CB8AC3E}">
        <p14:creationId xmlns:p14="http://schemas.microsoft.com/office/powerpoint/2010/main" val="218875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3E4B3-A9CF-4931-B8A2-E0EDDA5D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系统功能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CB66BA1-5465-4252-A111-367494398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831" y="1930399"/>
            <a:ext cx="8237207" cy="344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6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2EE6A-3977-4AED-9198-694C7E86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81C93D-50EA-4F41-A6D6-772FAA50A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登录功能模块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管理员功能模块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数据库表</a:t>
            </a:r>
          </a:p>
        </p:txBody>
      </p:sp>
    </p:spTree>
    <p:extLst>
      <p:ext uri="{BB962C8B-B14F-4D97-AF65-F5344CB8AC3E}">
        <p14:creationId xmlns:p14="http://schemas.microsoft.com/office/powerpoint/2010/main" val="931531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8E0CE-D69A-489E-838C-8E872530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登录功能模块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43BC60-FD2A-45AF-85AF-86029B3E8064}"/>
              </a:ext>
            </a:extLst>
          </p:cNvPr>
          <p:cNvSpPr/>
          <p:nvPr/>
        </p:nvSpPr>
        <p:spPr>
          <a:xfrm>
            <a:off x="677334" y="1759893"/>
            <a:ext cx="81618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系统的“角色”在进行登录时，分为普通用户和管理员登录页面，在进行登录时系统会根据登录不同的方式来进行判断类别。不同的“角色”输入自己的专属账号时，系统会根据使用者的登录类型，会自动筛选出相应的登录成功后的页面。其具体展现见图</a:t>
            </a:r>
            <a:endParaRPr lang="zh-CN" altLang="en-US" dirty="0"/>
          </a:p>
        </p:txBody>
      </p:sp>
      <p:pic>
        <p:nvPicPr>
          <p:cNvPr id="4" name="图片 3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FB65CEC9-464F-54FC-3B57-2BCC263E5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759" y="2859547"/>
            <a:ext cx="3400900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2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8E6B9-DE19-4A6E-A414-D0B1FC14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管理员功能模块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F28637-485E-422E-BD0D-C243FBF3F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商品管理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管理员可以对上线的物品进行相应的管理，可以对违规商品进行下架处理。并可以在下架的二手物品模块内可以对下架的物品进行删除等操作。其具体展现见图</a:t>
            </a:r>
          </a:p>
        </p:txBody>
      </p:sp>
      <p:pic>
        <p:nvPicPr>
          <p:cNvPr id="5" name="图片 4" descr="图形用户界面, 文本, 应用程序, Teams&#10;&#10;AI 生成的内容可能不正确。">
            <a:extLst>
              <a:ext uri="{FF2B5EF4-FFF2-40B4-BE49-F238E27FC236}">
                <a16:creationId xmlns:a16="http://schemas.microsoft.com/office/drawing/2014/main" id="{653E142A-8D51-6648-DADF-2770290E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28742"/>
            <a:ext cx="8516362" cy="269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4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17EB7-3035-49A0-93F1-679F6FF8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学生模块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BFCC1E-4E5A-47CD-AC27-EDDF62830B35}"/>
              </a:ext>
            </a:extLst>
          </p:cNvPr>
          <p:cNvSpPr/>
          <p:nvPr/>
        </p:nvSpPr>
        <p:spPr>
          <a:xfrm>
            <a:off x="677334" y="148558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主页面：主页面是用于展示学生需要卖出的商品信息等。包含各种种类的商品信息。</a:t>
            </a:r>
            <a:endParaRPr lang="zh-CN" altLang="en-US" dirty="0"/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C3A5156-E0DE-A043-F296-FB1BDB0E8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813" y="2356827"/>
            <a:ext cx="4985742" cy="432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8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DB43D-B9E9-41D2-8DC8-A0777B69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生活实例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07C01D-7931-4626-9A9A-221956B5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小爱想要买二手软件设计教材，但是在例如淘宝这些平台上面找不到，于是想要在校内校友建立的二手交易平台上找找有没有这本书，于是他打开了我们的校园二手交易平台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AB4F1C1-4CED-1C00-3AB3-88A5BCAE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376" y="2869053"/>
            <a:ext cx="5619485" cy="340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4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D8E0F-6264-4738-94A6-467CBF3A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62E77-4031-49DC-96CF-04AFF428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他来到了主页，看到了琳琅满目的商品，于是他点击搜索框输入“软件设计”，点击搜索，很快，出现了他想要找的教材</a:t>
            </a:r>
          </a:p>
        </p:txBody>
      </p:sp>
      <p:pic>
        <p:nvPicPr>
          <p:cNvPr id="5" name="图片 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13262D84-A544-99FD-3A7D-07D34B21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491" y="3071973"/>
            <a:ext cx="6031504" cy="241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4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38176-E695-4CB7-9EB4-EADBE028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7098C-CE81-4CFF-A6F6-15CADEFA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34405" cy="3880773"/>
          </a:xfrm>
        </p:spPr>
        <p:txBody>
          <a:bodyPr/>
          <a:lstStyle/>
          <a:p>
            <a:r>
              <a:rPr lang="zh-CN" altLang="en-US" dirty="0"/>
              <a:t>小爱想要查看该商品的各项信息，于是便点击目标教材的信息框，随后便看到了该商品的信息和校友的评论。小明想问这个书的质量好不好，于是想在评论区里留言，这书质量好吗？结果发现需要登录。</a:t>
            </a:r>
          </a:p>
        </p:txBody>
      </p:sp>
      <p:pic>
        <p:nvPicPr>
          <p:cNvPr id="5" name="图片 4" descr="图片包含 文本&#10;&#10;AI 生成的内容可能不正确。">
            <a:extLst>
              <a:ext uri="{FF2B5EF4-FFF2-40B4-BE49-F238E27FC236}">
                <a16:creationId xmlns:a16="http://schemas.microsoft.com/office/drawing/2014/main" id="{6AFEA14E-A3B4-3613-B009-E0D07931D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657" y="321114"/>
            <a:ext cx="4931598" cy="621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64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3E284-644F-47B6-A2EC-63EF8B17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59504-A9F8-4E7B-A386-21D029E0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接下来小爱开始注册属于自己的账户。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7D31EA3-9309-7CC3-2D07-D00151B7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33" y="1009883"/>
            <a:ext cx="3858163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52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A9D15-37AE-4675-8A32-4EF83D90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3AE32B-D7D0-48B7-BB5B-561F570B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76" y="161538"/>
            <a:ext cx="8596668" cy="3880773"/>
          </a:xfrm>
        </p:spPr>
        <p:txBody>
          <a:bodyPr/>
          <a:lstStyle/>
          <a:p>
            <a:r>
              <a:rPr lang="zh-CN" altLang="en-US" dirty="0"/>
              <a:t>小爱注册成功后开始评论。在等待回复过程中，小爱还注意到该网站主页有许多分类，他一一点击浏览。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BCD11138-FAE8-B0EC-D0C3-A3802781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868901"/>
            <a:ext cx="3285848" cy="2466046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E7692759-79F9-52B0-CA1B-45FFA607A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264" y="868901"/>
            <a:ext cx="3122470" cy="2264480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83E552B-80B4-7138-B896-E3F353E7E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71" y="3334947"/>
            <a:ext cx="3658826" cy="1922249"/>
          </a:xfrm>
          <a:prstGeom prst="rect">
            <a:avLst/>
          </a:prstGeom>
        </p:spPr>
      </p:pic>
      <p:pic>
        <p:nvPicPr>
          <p:cNvPr id="11" name="图片 10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19D7AD1-8AE8-1DEE-E0E2-ADE6AD608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129" y="3217333"/>
            <a:ext cx="3018686" cy="2263268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17FDF30-EFAE-2278-57C2-41C062812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533" y="845629"/>
            <a:ext cx="3421518" cy="25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0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0BDB1-1655-4690-82E3-36507975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9A13B-8C2E-46DC-87F3-BFA19E4F7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76" y="342063"/>
            <a:ext cx="8596668" cy="3880773"/>
          </a:xfrm>
        </p:spPr>
        <p:txBody>
          <a:bodyPr/>
          <a:lstStyle/>
          <a:p>
            <a:r>
              <a:rPr lang="zh-CN" altLang="en-US" dirty="0"/>
              <a:t>过了不久他收到了回复，质量非常好。看到这句回复后小爱立刻选择支付，于是点击了支付按钮，选好收货地址后成功买下了这本书。</a:t>
            </a:r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024D672-A0BC-4A2E-D2D2-512865C27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34" y="904127"/>
            <a:ext cx="5384581" cy="2363056"/>
          </a:xfrm>
          <a:prstGeom prst="rect">
            <a:avLst/>
          </a:prstGeom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4C43C668-8DA8-E04E-0259-B7361FAA1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35" y="3158197"/>
            <a:ext cx="4473433" cy="3253406"/>
          </a:xfrm>
          <a:prstGeom prst="rect">
            <a:avLst/>
          </a:prstGeom>
        </p:spPr>
      </p:pic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C831F7D-099F-85C2-53F6-60BB3C081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94" y="2598195"/>
            <a:ext cx="5747430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4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1360B-4B65-45F0-151C-C9D92F0A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4E1EDE-176A-11AC-AAB0-45B448275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73" y="485902"/>
            <a:ext cx="8596668" cy="3880773"/>
          </a:xfrm>
        </p:spPr>
        <p:txBody>
          <a:bodyPr/>
          <a:lstStyle/>
          <a:p>
            <a:r>
              <a:rPr lang="zh-CN" altLang="en-US" dirty="0"/>
              <a:t>平台管理员在使用普通账号浏览平台时，发现了违禁物品商品正在出售，于是想动用管理员账号对其进行处理。</a:t>
            </a:r>
          </a:p>
        </p:txBody>
      </p:sp>
      <p:pic>
        <p:nvPicPr>
          <p:cNvPr id="5" name="图片 4" descr="图片包含 日程表&#10;&#10;AI 生成的内容可能不正确。">
            <a:extLst>
              <a:ext uri="{FF2B5EF4-FFF2-40B4-BE49-F238E27FC236}">
                <a16:creationId xmlns:a16="http://schemas.microsoft.com/office/drawing/2014/main" id="{9E29A98D-AD95-7C9C-FD54-16CF362B2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0000"/>
            <a:ext cx="6467825" cy="440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00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2981A-FFBA-7A29-B9E7-06C4C402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D99CA-2BC9-443F-3585-AFA94F58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09" y="239322"/>
            <a:ext cx="8596668" cy="3880773"/>
          </a:xfrm>
        </p:spPr>
        <p:txBody>
          <a:bodyPr/>
          <a:lstStyle/>
          <a:p>
            <a:r>
              <a:rPr lang="zh-CN" altLang="en-US" dirty="0"/>
              <a:t>管理员先是退出当前账号并登录他的管理员账号，再将商品强制下架，并对其卖家进行封禁处理。</a:t>
            </a:r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A5CAD3D-CD7A-34BF-8DF1-BB0B0DBF8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0" y="884593"/>
            <a:ext cx="6944619" cy="31428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057EBF-1BB4-E094-46EA-A8069D07D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08" y="4484339"/>
            <a:ext cx="7901589" cy="86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13814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1197</Words>
  <Application>Microsoft Office PowerPoint</Application>
  <PresentationFormat>宽屏</PresentationFormat>
  <Paragraphs>52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宋体</vt:lpstr>
      <vt:lpstr>Arial</vt:lpstr>
      <vt:lpstr>Times New Roman</vt:lpstr>
      <vt:lpstr>Trebuchet MS</vt:lpstr>
      <vt:lpstr>Wingdings 3</vt:lpstr>
      <vt:lpstr>平面</vt:lpstr>
      <vt:lpstr>二手组</vt:lpstr>
      <vt:lpstr>需求分析</vt:lpstr>
      <vt:lpstr>用户需求</vt:lpstr>
      <vt:lpstr>管理员需求</vt:lpstr>
      <vt:lpstr>系统设计</vt:lpstr>
      <vt:lpstr>开发环境</vt:lpstr>
      <vt:lpstr>系通过对该系统的分析之后，该系统的整体架构可以分为如下五层：Pojo层、Dao层、Service层、Controller层、View层。 Pojo层其实就是对应着数据库中的实体类，并且实体类中的属性名与数据库属性名一样，在数据库没有访问的时候，Pojo层中的实体类有Spring提供的容器进行管理。 Dao层是数据访问层，和数据库联系比较密切。MyBaits提供了接口式编程方式，只需创建接口和在对应的配置文件中编写SQL语句，即可实现对数据库的增删改查。 Service层是业务层，用来处理具体的业务逻辑，并且不需要考虑其具体实现，通过调用Dao层对象实现业务逻辑的编写。 Controller层是控制层，该层和View层联系特别紧密，需要对前台用户发送的请求进行处理和页面跳转，并且需要调用Service层的对象。 View层是视图层，主要用来展示前台vue页面，可以向后台发送请求，并且可以对后台返回的数据和结果进行响应。 统概要设计</vt:lpstr>
      <vt:lpstr>系统功能</vt:lpstr>
      <vt:lpstr>系统实现</vt:lpstr>
      <vt:lpstr>登录功能模块</vt:lpstr>
      <vt:lpstr>管理员功能模块</vt:lpstr>
      <vt:lpstr>学生模块</vt:lpstr>
      <vt:lpstr>生活实例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二手组</dc:title>
  <dc:creator>Administrator</dc:creator>
  <cp:lastModifiedBy>凯洋 周</cp:lastModifiedBy>
  <cp:revision>6</cp:revision>
  <dcterms:created xsi:type="dcterms:W3CDTF">2025-12-23T07:14:12Z</dcterms:created>
  <dcterms:modified xsi:type="dcterms:W3CDTF">2025-12-29T09:04:31Z</dcterms:modified>
</cp:coreProperties>
</file>